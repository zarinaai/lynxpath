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92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LynxPath v0.1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• not for clinical use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844"/>
          </a:solidFill>
          <a:ln w="12700">
            <a:solidFill>
              <a:srgbClr val="1038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58368"/>
            <a:ext cx="530352" cy="53035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1116" y="753831"/>
            <a:ext cx="84856" cy="3394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3831" y="881116"/>
            <a:ext cx="339425" cy="84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LynxPath v0.1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D7DD"/>
                </a:solidFill>
              </a:rPr>
              <a:t>Open capacity signals for explainable time-to-care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" y="2633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EB8C0"/>
                </a:solidFill>
              </a:rPr>
              <a:t>A reproducible FOSS demo: schema → eligibility → estimator → ranked options.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812280" y="960120"/>
            <a:ext cx="4526280" cy="4434840"/>
          </a:xfrm>
          <a:prstGeom prst="roundRect">
            <a:avLst/>
          </a:prstGeom>
          <a:solidFill>
            <a:srgbClr val="154751"/>
          </a:solidFill>
          <a:ln w="12700">
            <a:solidFill>
              <a:srgbClr val="2A5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12618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Nearest ≠ fastest to care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50608" y="1883664"/>
            <a:ext cx="987552" cy="310896"/>
          </a:xfrm>
          <a:prstGeom prst="roundRect">
            <a:avLst/>
          </a:prstGeom>
          <a:solidFill>
            <a:srgbClr val="2B5963"/>
          </a:solidFill>
          <a:ln w="10160">
            <a:solidFill>
              <a:srgbClr val="2B59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19613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DECEF"/>
                </a:solidFill>
              </a:rPr>
              <a:t>NEAREST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7150608" y="23042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50608" y="26243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ED3"/>
                </a:solidFill>
              </a:rPr>
              <a:t>8 min travel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64040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FFB69A"/>
                </a:solidFill>
              </a:rPr>
              <a:t>186 min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509760" y="267919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B7CED3"/>
                </a:solidFill>
              </a:rPr>
              <a:t>expected TTC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150608" y="3163824"/>
            <a:ext cx="3822192" cy="0"/>
          </a:xfrm>
          <a:prstGeom prst="line">
            <a:avLst/>
          </a:prstGeom>
          <a:noFill/>
          <a:ln w="12700">
            <a:solidFill>
              <a:srgbClr val="3A687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150608" y="3456432"/>
            <a:ext cx="1261872" cy="310896"/>
          </a:xfrm>
          <a:prstGeom prst="roundRect">
            <a:avLst/>
          </a:prstGeom>
          <a:solidFill>
            <a:srgbClr val="1D765F"/>
          </a:solidFill>
          <a:ln w="10160">
            <a:solidFill>
              <a:srgbClr val="1D76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534156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7FFF4"/>
                </a:solidFill>
              </a:rPr>
              <a:t>FASTEST NOW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7150608" y="38953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 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0608" y="4215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ED3"/>
                </a:solidFill>
              </a:rPr>
              <a:t>18 min travel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6404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8BE3C0"/>
                </a:solidFill>
              </a:rPr>
              <a:t>53 min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253728" y="429768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B7CED3"/>
                </a:solidFill>
              </a:rPr>
              <a:t>45–61 min range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150608" y="4855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3BCC4"/>
                </a:solidFill>
              </a:rPr>
              <a:t>Synthetic fracture pathway: X-ray + orthopaedics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58368" y="5559552"/>
            <a:ext cx="1115568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6372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APACHE-2.0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901952" y="5559552"/>
            <a:ext cx="1371600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6816" y="563727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DOCKER COMPOSE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410712" y="5559552"/>
            <a:ext cx="1024128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563727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CI + TESTS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0" y="5559552"/>
            <a:ext cx="1874520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563727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REPRODUCIBLE SCENARIOS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9006840" y="56052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EA6"/>
                </a:solidFill>
              </a:rPr>
              <a:t>FOSDEM 2027 demo pitch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The demo asks one operational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Required capabilities are declared first; LynxPath never infers diagnosis.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88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556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221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0828A"/>
                </a:solidFill>
              </a:rPr>
              <a:t>Patient pathway requirement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896112" y="2587752"/>
            <a:ext cx="804672" cy="310896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C9D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6654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C7ED6"/>
                </a:solidFill>
              </a:rPr>
              <a:t>X-RAY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1810512" y="2587752"/>
            <a:ext cx="1243584" cy="310896"/>
          </a:xfrm>
          <a:prstGeom prst="roundRect">
            <a:avLst/>
          </a:prstGeom>
          <a:solidFill>
            <a:srgbClr val="E7F6F6"/>
          </a:solidFill>
          <a:ln w="10160">
            <a:solidFill>
              <a:srgbClr val="B7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2665476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87B7B"/>
                </a:solidFill>
              </a:rPr>
              <a:t>ORTHOPAEDICS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896112" y="3163824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6515A"/>
                </a:solidFill>
              </a:rPr>
              <a:t>The user/pathway declares these capabilities. No clinical prediction is performed.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896112" y="4315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07C45"/>
                </a:solidFill>
              </a:rPr>
              <a:t>Safety boundary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96112" y="464515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Information only • human decision remains final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76472" y="2834640"/>
            <a:ext cx="566928" cy="914400"/>
          </a:xfrm>
          <a:prstGeom prst="chevron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417320"/>
            <a:ext cx="6812280" cy="4297680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8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7556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Estimate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B7B"/>
                </a:solidFill>
              </a:rPr>
              <a:t>Expected time-to-care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770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Travel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16952" y="27706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18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302666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3026664"/>
            <a:ext cx="1020470" cy="82296"/>
          </a:xfrm>
          <a:prstGeom prst="rect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3192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ED delay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16952" y="33192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15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357530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3575304"/>
            <a:ext cx="850392" cy="82296"/>
          </a:xfrm>
          <a:prstGeom prst="rect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867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X-ray delay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16952" y="3867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15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412394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4123944"/>
            <a:ext cx="850392" cy="82296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416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Orthopaedics delay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16952" y="4416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467258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4672584"/>
            <a:ext cx="283464" cy="82296"/>
          </a:xfrm>
          <a:prstGeom prst="rect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7968" y="2240280"/>
            <a:ext cx="2057400" cy="2706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C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28163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9A6D"/>
                </a:solidFill>
              </a:rPr>
              <a:t>53 min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171432" y="3410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28A"/>
                </a:solidFill>
              </a:rPr>
              <a:t>expected TTC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44584" y="4041648"/>
            <a:ext cx="1389888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FE2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99448" y="411937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45–61 min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9025128" y="4590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70828A"/>
                </a:solidFill>
              </a:rPr>
              <a:t>Freshness: 7 min • confidence: 84%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The technical contribution is an open capacity-signal interface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Adapters stay at the edge; the estimator consumes one small, testable representation.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965960" cy="2331720"/>
          </a:xfrm>
          <a:prstGeom prst="roundRect">
            <a:avLst/>
          </a:prstGeom>
          <a:solidFill>
            <a:srgbClr val="EDF3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23113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Source feeds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880360"/>
            <a:ext cx="1563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FHIR-like • ROR-style • local systems • synthetic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706624" y="2679192"/>
            <a:ext cx="365760" cy="658368"/>
          </a:xfrm>
          <a:prstGeom prst="chevron">
            <a:avLst/>
          </a:prstGeom>
          <a:solidFill>
            <a:srgbClr val="AABBC1"/>
          </a:solidFill>
          <a:ln w="12700">
            <a:solidFill>
              <a:srgbClr val="AABB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874520"/>
            <a:ext cx="2331720" cy="2331720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6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23113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Open capacity schema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880360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capabilities • delays • closures • source • freshness • confidence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385816" y="2679192"/>
            <a:ext cx="365760" cy="658368"/>
          </a:xfrm>
          <a:prstGeom prst="chevron">
            <a:avLst/>
          </a:prstGeom>
          <a:solidFill>
            <a:srgbClr val="AABBC1"/>
          </a:solidFill>
          <a:ln w="12700">
            <a:solidFill>
              <a:srgbClr val="AABB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6128" y="1874520"/>
            <a:ext cx="2148840" cy="2331720"/>
          </a:xfrm>
          <a:prstGeom prst="roundRect">
            <a:avLst/>
          </a:prstGeom>
          <a:solidFill>
            <a:srgbClr val="FFF2EA"/>
          </a:solidFill>
          <a:ln w="12700">
            <a:solidFill>
              <a:srgbClr val="F1C9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231136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Reference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97296" y="2880360"/>
            <a:ext cx="1746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eligibility • TTC estimate • uncertainty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891272" y="2679192"/>
            <a:ext cx="365760" cy="658368"/>
          </a:xfrm>
          <a:prstGeom prst="chevron">
            <a:avLst/>
          </a:prstGeom>
          <a:solidFill>
            <a:srgbClr val="AABBC1"/>
          </a:solidFill>
          <a:ln w="12700">
            <a:solidFill>
              <a:srgbClr val="AABB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874520"/>
            <a:ext cx="3474720" cy="2331720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BDE1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2311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Explainable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88036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ranked eligible options • ranges • change reasons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1005840" y="4681728"/>
            <a:ext cx="10104120" cy="1005840"/>
          </a:xfrm>
          <a:prstGeom prst="roundRect">
            <a:avLst/>
          </a:prstGeom>
          <a:solidFill>
            <a:srgbClr val="103844"/>
          </a:solidFill>
          <a:ln w="12700">
            <a:solidFill>
              <a:srgbClr val="214A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4965192"/>
            <a:ext cx="9528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New country or hospital? Write an adapter — not a new ranking engine.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7592" y="5367528"/>
            <a:ext cx="9528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BBD8DE"/>
                </a:solidFill>
              </a:rPr>
              <a:t>The schema is versioned JSON Schema 2020-12 and the demo fixtures validate offline in CI.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A capacity snapshot is small enough to inspect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The v0.1 schema contains operational signals — no patient identifier, diagnosis, or destination decision.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446520" cy="4526280"/>
          </a:xfrm>
          <a:prstGeom prst="roundRect">
            <a:avLst/>
          </a:prstGeom>
          <a:solidFill>
            <a:srgbClr val="132F38"/>
          </a:solidFill>
          <a:ln w="12700">
            <a:solidFill>
              <a:srgbClr val="2749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580644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"patient_need":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"required_capabilities": ["xray", "orthopedics"]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"hospitals": [{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"hospital_id": "B",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"travel_minutes": 18,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"ed_delay_minutes": 15,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"resource_delays": {"xray": 15, "orthopedics": 5},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"temporary_closures": [],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"freshness_minutes": 7,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0.84,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"synthetic://hospital-b"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406640" y="1527048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6096" y="16367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Capabilities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87968" y="1636776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Eligibility before ranking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406640" y="2249424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6096" y="2359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Operational delays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887968" y="2359152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Separate ED and resource signals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06640" y="2971800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6096" y="3081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Closures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87968" y="3081528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A resource can become unavailable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406640" y="3694176"/>
            <a:ext cx="4069080" cy="566928"/>
          </a:xfrm>
          <a:prstGeom prst="roundRect">
            <a:avLst/>
          </a:prstGeom>
          <a:solidFill>
            <a:srgbClr val="FFF2EA"/>
          </a:solidFill>
          <a:ln w="12700">
            <a:solidFill>
              <a:srgbClr val="F3C6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38039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7C45"/>
                </a:solidFill>
              </a:rPr>
              <a:t>Freshness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87968" y="380390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Stale data widens uncertainty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406640" y="4416552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45262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Confidence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87968" y="4526280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Visible instead of hidden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406640" y="5138928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5248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Source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87968" y="5248656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Every signal is attributable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The live demo is deterministic: one click, a visible ranking change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Same pathway. Same hospitals. Only the operational signals change.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399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T = 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" y="1755648"/>
            <a:ext cx="5010912" cy="3438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57984"/>
            <a:ext cx="347472" cy="347472"/>
          </a:xfrm>
          <a:prstGeom prst="ellipse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4942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99032" y="213969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99032" y="2414016"/>
            <a:ext cx="1261872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CE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249174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FASTEST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4306824" y="21488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9A6D"/>
                </a:solidFill>
              </a:rPr>
              <a:t>53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2944368"/>
            <a:ext cx="347472" cy="347472"/>
          </a:xfrm>
          <a:prstGeom prst="ellipse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3580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99032" y="2926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06824" y="29352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7ED6"/>
                </a:solidFill>
              </a:rPr>
              <a:t>64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" y="3730752"/>
            <a:ext cx="347472" cy="347472"/>
          </a:xfrm>
          <a:prstGeom prst="ellipse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2219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99032" y="3712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06824" y="37216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7C45"/>
                </a:solidFill>
              </a:rPr>
              <a:t>186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" y="4608576"/>
            <a:ext cx="1536192" cy="310896"/>
          </a:xfrm>
          <a:prstGeom prst="roundRect">
            <a:avLst/>
          </a:prstGeom>
          <a:solidFill>
            <a:srgbClr val="FCEEEE"/>
          </a:solidFill>
          <a:ln w="10160">
            <a:solidFill>
              <a:srgbClr val="F1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68630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95D5D"/>
                </a:solidFill>
              </a:rPr>
              <a:t>Hospital D excluded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879592" y="2743200"/>
            <a:ext cx="621792" cy="960120"/>
          </a:xfrm>
          <a:prstGeom prst="chevron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9864" y="3776472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B7B"/>
                </a:solidFill>
              </a:rPr>
              <a:t>Next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9712" y="1399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T = 15 min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39128" y="1755648"/>
            <a:ext cx="4828032" cy="3438144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5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2592" y="2157984"/>
            <a:ext cx="347472" cy="347472"/>
          </a:xfrm>
          <a:prstGeom prst="ellipse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224942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25512" y="21396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25512" y="2414016"/>
            <a:ext cx="1261872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CE2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0376" y="249174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NEW FASTEST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10268712" y="21488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9A6D"/>
                </a:solidFill>
              </a:rPr>
              <a:t>48 min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22592" y="2944368"/>
            <a:ext cx="347472" cy="347472"/>
          </a:xfrm>
          <a:prstGeom prst="ellipse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03580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25512" y="2926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68712" y="29352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7ED6"/>
                </a:solidFill>
              </a:rPr>
              <a:t>62 min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22592" y="3730752"/>
            <a:ext cx="347472" cy="347472"/>
          </a:xfrm>
          <a:prstGeom prst="ellipse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382219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25512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68712" y="37216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7C45"/>
                </a:solidFill>
              </a:rPr>
              <a:t>187 min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22592" y="4608576"/>
            <a:ext cx="1536192" cy="310896"/>
          </a:xfrm>
          <a:prstGeom prst="roundRect">
            <a:avLst/>
          </a:prstGeom>
          <a:solidFill>
            <a:srgbClr val="FCEEEE"/>
          </a:solidFill>
          <a:ln w="10160">
            <a:solidFill>
              <a:srgbClr val="F1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7456" y="468630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95D5D"/>
                </a:solidFill>
              </a:rPr>
              <a:t>Hospital D excluded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12648" y="5486400"/>
            <a:ext cx="10954512" cy="640080"/>
          </a:xfrm>
          <a:prstGeom prst="roundRect">
            <a:avLst/>
          </a:prstGeom>
          <a:solidFill>
            <a:srgbClr val="103844"/>
          </a:solidFill>
          <a:ln w="12700">
            <a:solidFill>
              <a:srgbClr val="214A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5687568"/>
            <a:ext cx="10369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Why it changed: Hospital C improved by 16 min; Hospital B worsened by 9 min as ED load rose.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Ranges, freshness and reasons — not a magic score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The demo makes uncertainty inspectable and widens intervals when signals are less reliable or stale.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46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Hospital C at T = 15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59A6D"/>
                </a:solidFill>
              </a:rPr>
              <a:t>48 min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70828A"/>
                </a:solidFill>
              </a:rPr>
              <a:t>expected time-to-care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896112" y="3246120"/>
            <a:ext cx="1444752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CE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332384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43–53 min range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487168" y="3246120"/>
            <a:ext cx="1005840" cy="310896"/>
          </a:xfrm>
          <a:prstGeom prst="roundRect">
            <a:avLst/>
          </a:prstGeom>
          <a:solidFill>
            <a:srgbClr val="E7F6F6"/>
          </a:solidFill>
          <a:ln w="10160">
            <a:solidFill>
              <a:srgbClr val="B6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32384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87B7B"/>
                </a:solidFill>
              </a:rPr>
              <a:t>2 min old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639312" y="3246120"/>
            <a:ext cx="1234440" cy="310896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C8D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3323844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C7ED6"/>
                </a:solidFill>
              </a:rPr>
              <a:t>91% confidence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96112" y="3895344"/>
            <a:ext cx="4242816" cy="0"/>
          </a:xfrm>
          <a:prstGeom prst="line">
            <a:avLst/>
          </a:prstGeom>
          <a:noFill/>
          <a:ln w="12700">
            <a:solidFill>
              <a:srgbClr val="DDE6E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96112" y="4187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Travel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057400" y="4233672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4233672"/>
            <a:ext cx="2016252" cy="91440"/>
          </a:xfrm>
          <a:prstGeom prst="rect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41879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27 min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96112" y="45354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ED delay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057400" y="4581144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4581144"/>
            <a:ext cx="597408" cy="91440"/>
          </a:xfrm>
          <a:prstGeom prst="rect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4535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8 min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96112" y="4882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X-ray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2057400" y="4928616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4928616"/>
            <a:ext cx="597408" cy="91440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8828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8 min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896112" y="5230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Orthopaedics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057400" y="5276088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5276088"/>
            <a:ext cx="373380" cy="91440"/>
          </a:xfrm>
          <a:prstGeom prst="rect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52303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5 min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897880" y="160934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The ranking explanation is generated from the same component deltas used by the estimator.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25312" y="2450592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2478024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91072" y="2423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Eligibility first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7882128" y="242316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Missing or closed capabilities are excluded before ranking.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925312" y="3236976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3264408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91072" y="32095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No false precision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7882128" y="320954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The UI shows a range, not only a point estimate.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925312" y="4023360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25312" y="4050792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91072" y="3995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Freshness is data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7882128" y="399592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Older signals increase the uncertainty margin.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925312" y="4809744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25312" y="4837176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91072" y="4782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Change is explicit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882128" y="478231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The app names which delays improved or worsened.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v0.1 is built to be reproduced and extended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A FOSDEM demo should be clonable, testable and hackable — not only presented.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822192" cy="4434840"/>
          </a:xfrm>
          <a:prstGeom prst="roundRect">
            <a:avLst/>
          </a:prstGeom>
          <a:solidFill>
            <a:srgbClr val="132F38"/>
          </a:solidFill>
          <a:ln w="12700">
            <a:solidFill>
              <a:srgbClr val="2749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64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…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LynxPath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896112" y="3593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BC1"/>
                </a:solidFill>
              </a:rPr>
              <a:t>Then open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96112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http://localhost:8501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4709160"/>
            <a:ext cx="1097280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78688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APACHE-2.0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139696" y="4709160"/>
            <a:ext cx="1307592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478688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GITHUB ACTIONS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96112" y="5184648"/>
            <a:ext cx="1170432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262372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5 TESTS PASS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2212848" y="5184648"/>
            <a:ext cx="1097280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5262372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3 SCENARIOS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800600" y="1545336"/>
            <a:ext cx="6720840" cy="640080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7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6824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0528" y="167335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Versioned JSON Schema for capacity snapshots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800600" y="2350008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0528" y="24780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Deterministic fracture, stroke and trauma timelines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800600" y="3154680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291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lynxpath/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328269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Eligibility, TTC estimate, uncertainty, change explanation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800600" y="3959352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4096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0528" y="408736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Regression tests for rankings, closures and schema validation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800600" y="4764024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901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10528" y="48920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Demo script + ready-to-open good-first issues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844"/>
          </a:solidFill>
          <a:ln w="12700">
            <a:solidFill>
              <a:srgbClr val="1038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03504"/>
            <a:ext cx="457200" cy="4572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731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795528"/>
            <a:ext cx="292608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Help make the capacity schema useful beyond the demo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8CE"/>
                </a:solidFill>
              </a:rPr>
              <a:t>The best next contributions are concrete and independent.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816352"/>
            <a:ext cx="347472" cy="34747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9864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 the schema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27889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D3D9"/>
                </a:solidFill>
              </a:rPr>
              <a:t>Would these signals map cleanly from your hospital, public-sector or research system?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3666744"/>
            <a:ext cx="347472" cy="34747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49040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36393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Write an adapter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3639312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D3D9"/>
                </a:solidFill>
              </a:rPr>
              <a:t>Translate an example FHIR/ROR-style/local payload into the v0.1 snapshot.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4517136"/>
            <a:ext cx="347472" cy="34747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59943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44897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 a scenario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64992" y="4489704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D3D9"/>
                </a:solidFill>
              </a:rPr>
              <a:t>Contribute a reproducible bottleneck or temporary-closure case — synthetic data only.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5650992"/>
            <a:ext cx="10899648" cy="658368"/>
          </a:xfrm>
          <a:prstGeom prst="roundRect">
            <a:avLst/>
          </a:prstGeom>
          <a:solidFill>
            <a:srgbClr val="154751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61304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EBEE"/>
                </a:solidFill>
              </a:rPr>
              <a:t>Open schema • explainable estimator • reproducible scenarios • Apache-2.0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LynxPath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LynxPath v0.1 — FOSDEM Demo Pitch</dc:title>
  <dc:subject>LynxPath v0.1 FOSDEM demo pitch</dc:subject>
  <dc:creator>LynxPath contributors</dc:creator>
  <cp:lastModifiedBy>LynxPath contributors</cp:lastModifiedBy>
  <cp:revision>1</cp:revision>
  <dcterms:created xsi:type="dcterms:W3CDTF">2026-10-14T21:49:07Z</dcterms:created>
  <dcterms:modified xsi:type="dcterms:W3CDTF">2026-10-14T21:49:07Z</dcterms:modified>
</cp:coreProperties>
</file>