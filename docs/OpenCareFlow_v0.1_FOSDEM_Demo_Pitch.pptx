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A3A3"/>
          </a:solidFill>
          <a:ln w="12700">
            <a:solidFill>
              <a:srgbClr val="0BA3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922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1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OpenCareFlow v0.1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7955280" y="64922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AA8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data • not for clinical use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9AA8A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9AA8A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38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3844"/>
          </a:solidFill>
          <a:ln w="12700">
            <a:solidFill>
              <a:srgbClr val="1038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A3A3"/>
          </a:solidFill>
          <a:ln w="12700">
            <a:solidFill>
              <a:srgbClr val="0B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58368"/>
            <a:ext cx="530352" cy="530352"/>
          </a:xfrm>
          <a:prstGeom prst="ellipse">
            <a:avLst/>
          </a:prstGeom>
          <a:solidFill>
            <a:srgbClr val="0BA3A3"/>
          </a:solidFill>
          <a:ln w="12700">
            <a:solidFill>
              <a:srgbClr val="0B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1116" y="753831"/>
            <a:ext cx="84856" cy="33942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3831" y="881116"/>
            <a:ext cx="339425" cy="848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353312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OpenCareFlow v0.1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58368" y="1993392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B9D7DD"/>
                </a:solidFill>
              </a:rPr>
              <a:t>Open capacity signals for explainable time-to-care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58368" y="2633472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8EB8C0"/>
                </a:solidFill>
              </a:rPr>
              <a:t>A reproducible FOSS demo: schema → eligibility → estimator → ranked options.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6812280" y="960120"/>
            <a:ext cx="4526280" cy="4434840"/>
          </a:xfrm>
          <a:prstGeom prst="roundRect">
            <a:avLst/>
          </a:prstGeom>
          <a:solidFill>
            <a:srgbClr val="154751"/>
          </a:solidFill>
          <a:ln w="12700">
            <a:solidFill>
              <a:srgbClr val="2A5A6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50608" y="1261872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Nearest ≠ fastest to care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150608" y="1883664"/>
            <a:ext cx="987552" cy="310896"/>
          </a:xfrm>
          <a:prstGeom prst="roundRect">
            <a:avLst/>
          </a:prstGeom>
          <a:solidFill>
            <a:srgbClr val="2B5963"/>
          </a:solidFill>
          <a:ln w="10160">
            <a:solidFill>
              <a:srgbClr val="2B596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05472" y="1961388"/>
            <a:ext cx="8778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DDECEF"/>
                </a:solidFill>
              </a:rPr>
              <a:t>NEAREST</a:t>
            </a:r>
            <a:endParaRPr lang="en-US" sz="830" dirty="0"/>
          </a:p>
        </p:txBody>
      </p:sp>
      <p:sp>
        <p:nvSpPr>
          <p:cNvPr id="14" name="Text 12"/>
          <p:cNvSpPr/>
          <p:nvPr/>
        </p:nvSpPr>
        <p:spPr>
          <a:xfrm>
            <a:off x="7150608" y="230428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Hospital 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150608" y="262432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CED3"/>
                </a:solidFill>
              </a:rPr>
              <a:t>8 min travel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464040" y="228600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300" b="1" dirty="0">
                <a:solidFill>
                  <a:srgbClr val="FFB69A"/>
                </a:solidFill>
              </a:rPr>
              <a:t>186 min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9509760" y="2679192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B7CED3"/>
                </a:solidFill>
              </a:rPr>
              <a:t>expected TTC</a:t>
            </a:r>
            <a:endParaRPr lang="en-US" sz="840" dirty="0"/>
          </a:p>
        </p:txBody>
      </p:sp>
      <p:sp>
        <p:nvSpPr>
          <p:cNvPr id="18" name="Shape 16"/>
          <p:cNvSpPr/>
          <p:nvPr/>
        </p:nvSpPr>
        <p:spPr>
          <a:xfrm>
            <a:off x="7150608" y="3163824"/>
            <a:ext cx="3822192" cy="0"/>
          </a:xfrm>
          <a:prstGeom prst="line">
            <a:avLst/>
          </a:prstGeom>
          <a:noFill/>
          <a:ln w="12700">
            <a:solidFill>
              <a:srgbClr val="3A6870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7150608" y="3456432"/>
            <a:ext cx="1261872" cy="310896"/>
          </a:xfrm>
          <a:prstGeom prst="roundRect">
            <a:avLst/>
          </a:prstGeom>
          <a:solidFill>
            <a:srgbClr val="1D765F"/>
          </a:solidFill>
          <a:ln w="10160">
            <a:solidFill>
              <a:srgbClr val="1D76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05472" y="3534156"/>
            <a:ext cx="11521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E7FFF4"/>
                </a:solidFill>
              </a:rPr>
              <a:t>FASTEST NOW</a:t>
            </a:r>
            <a:endParaRPr lang="en-US" sz="830" dirty="0"/>
          </a:p>
        </p:txBody>
      </p:sp>
      <p:sp>
        <p:nvSpPr>
          <p:cNvPr id="21" name="Text 19"/>
          <p:cNvSpPr/>
          <p:nvPr/>
        </p:nvSpPr>
        <p:spPr>
          <a:xfrm>
            <a:off x="7150608" y="3895344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Hospital B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150608" y="421538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CED3"/>
                </a:solidFill>
              </a:rPr>
              <a:t>18 min travel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464040" y="3877056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300" b="1" dirty="0">
                <a:solidFill>
                  <a:srgbClr val="8BE3C0"/>
                </a:solidFill>
              </a:rPr>
              <a:t>53 min</a:t>
            </a:r>
            <a:endParaRPr lang="en-US" sz="2300" dirty="0"/>
          </a:p>
        </p:txBody>
      </p:sp>
      <p:sp>
        <p:nvSpPr>
          <p:cNvPr id="24" name="Text 22"/>
          <p:cNvSpPr/>
          <p:nvPr/>
        </p:nvSpPr>
        <p:spPr>
          <a:xfrm>
            <a:off x="9253728" y="4297680"/>
            <a:ext cx="1426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B7CED3"/>
                </a:solidFill>
              </a:rPr>
              <a:t>45–61 min range</a:t>
            </a:r>
            <a:endParaRPr lang="en-US" sz="840" dirty="0"/>
          </a:p>
        </p:txBody>
      </p:sp>
      <p:sp>
        <p:nvSpPr>
          <p:cNvPr id="25" name="Text 23"/>
          <p:cNvSpPr/>
          <p:nvPr/>
        </p:nvSpPr>
        <p:spPr>
          <a:xfrm>
            <a:off x="7150608" y="485546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93BCC4"/>
                </a:solidFill>
              </a:rPr>
              <a:t>Synthetic fracture pathway: X-ray + orthopaedics</a:t>
            </a:r>
            <a:endParaRPr lang="en-US" sz="870" dirty="0"/>
          </a:p>
        </p:txBody>
      </p:sp>
      <p:sp>
        <p:nvSpPr>
          <p:cNvPr id="26" name="Shape 24"/>
          <p:cNvSpPr/>
          <p:nvPr/>
        </p:nvSpPr>
        <p:spPr>
          <a:xfrm>
            <a:off x="658368" y="5559552"/>
            <a:ext cx="1115568" cy="310896"/>
          </a:xfrm>
          <a:prstGeom prst="roundRect">
            <a:avLst/>
          </a:prstGeom>
          <a:solidFill>
            <a:srgbClr val="1A5360"/>
          </a:solidFill>
          <a:ln w="10160">
            <a:solidFill>
              <a:srgbClr val="31687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" y="5637276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C8E4E8"/>
                </a:solidFill>
              </a:rPr>
              <a:t>APACHE-2.0</a:t>
            </a:r>
            <a:endParaRPr lang="en-US" sz="830" dirty="0"/>
          </a:p>
        </p:txBody>
      </p:sp>
      <p:sp>
        <p:nvSpPr>
          <p:cNvPr id="28" name="Shape 26"/>
          <p:cNvSpPr/>
          <p:nvPr/>
        </p:nvSpPr>
        <p:spPr>
          <a:xfrm>
            <a:off x="1901952" y="5559552"/>
            <a:ext cx="1371600" cy="310896"/>
          </a:xfrm>
          <a:prstGeom prst="roundRect">
            <a:avLst/>
          </a:prstGeom>
          <a:solidFill>
            <a:srgbClr val="1A5360"/>
          </a:solidFill>
          <a:ln w="10160">
            <a:solidFill>
              <a:srgbClr val="31687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56816" y="5637276"/>
            <a:ext cx="12618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C8E4E8"/>
                </a:solidFill>
              </a:rPr>
              <a:t>DOCKER COMPOSE</a:t>
            </a:r>
            <a:endParaRPr lang="en-US" sz="830" dirty="0"/>
          </a:p>
        </p:txBody>
      </p:sp>
      <p:sp>
        <p:nvSpPr>
          <p:cNvPr id="30" name="Shape 28"/>
          <p:cNvSpPr/>
          <p:nvPr/>
        </p:nvSpPr>
        <p:spPr>
          <a:xfrm>
            <a:off x="3410712" y="5559552"/>
            <a:ext cx="1024128" cy="310896"/>
          </a:xfrm>
          <a:prstGeom prst="roundRect">
            <a:avLst/>
          </a:prstGeom>
          <a:solidFill>
            <a:srgbClr val="1A5360"/>
          </a:solidFill>
          <a:ln w="10160">
            <a:solidFill>
              <a:srgbClr val="31687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65576" y="5637276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C8E4E8"/>
                </a:solidFill>
              </a:rPr>
              <a:t>CI + TESTS</a:t>
            </a:r>
            <a:endParaRPr lang="en-US" sz="830" dirty="0"/>
          </a:p>
        </p:txBody>
      </p:sp>
      <p:sp>
        <p:nvSpPr>
          <p:cNvPr id="32" name="Shape 30"/>
          <p:cNvSpPr/>
          <p:nvPr/>
        </p:nvSpPr>
        <p:spPr>
          <a:xfrm>
            <a:off x="4572000" y="5559552"/>
            <a:ext cx="1874520" cy="310896"/>
          </a:xfrm>
          <a:prstGeom prst="roundRect">
            <a:avLst/>
          </a:prstGeom>
          <a:solidFill>
            <a:srgbClr val="1A5360"/>
          </a:solidFill>
          <a:ln w="10160">
            <a:solidFill>
              <a:srgbClr val="31687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26864" y="5637276"/>
            <a:ext cx="1764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C8E4E8"/>
                </a:solidFill>
              </a:rPr>
              <a:t>REPRODUCIBLE SCENARIOS</a:t>
            </a:r>
            <a:endParaRPr lang="en-US" sz="830" dirty="0"/>
          </a:p>
        </p:txBody>
      </p:sp>
      <p:sp>
        <p:nvSpPr>
          <p:cNvPr id="34" name="Text 32"/>
          <p:cNvSpPr/>
          <p:nvPr/>
        </p:nvSpPr>
        <p:spPr>
          <a:xfrm>
            <a:off x="9006840" y="560527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9EA6"/>
                </a:solidFill>
              </a:rPr>
              <a:t>FOSDEM 2027 demo pitch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9AA8A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3C"/>
                </a:solidFill>
              </a:rPr>
              <a:t>The demo asks one operational question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0828A"/>
                </a:solidFill>
              </a:rPr>
              <a:t>Required capabilities are declared first; OpenCareFlow never infers diagnosis.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278892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75564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33C"/>
                </a:solidFill>
              </a:rPr>
              <a:t>Input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96112" y="222199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70828A"/>
                </a:solidFill>
              </a:rPr>
              <a:t>Patient pathway requirement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896112" y="2587752"/>
            <a:ext cx="804672" cy="310896"/>
          </a:xfrm>
          <a:prstGeom prst="roundRect">
            <a:avLst/>
          </a:prstGeom>
          <a:solidFill>
            <a:srgbClr val="EDF3FF"/>
          </a:solidFill>
          <a:ln w="10160">
            <a:solidFill>
              <a:srgbClr val="C9D9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0976" y="2665476"/>
            <a:ext cx="694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4C7ED6"/>
                </a:solidFill>
              </a:rPr>
              <a:t>X-RAY</a:t>
            </a:r>
            <a:endParaRPr lang="en-US" sz="830" dirty="0"/>
          </a:p>
        </p:txBody>
      </p:sp>
      <p:sp>
        <p:nvSpPr>
          <p:cNvPr id="9" name="Shape 7"/>
          <p:cNvSpPr/>
          <p:nvPr/>
        </p:nvSpPr>
        <p:spPr>
          <a:xfrm>
            <a:off x="1810512" y="2587752"/>
            <a:ext cx="1243584" cy="310896"/>
          </a:xfrm>
          <a:prstGeom prst="roundRect">
            <a:avLst/>
          </a:prstGeom>
          <a:solidFill>
            <a:srgbClr val="E7F6F6"/>
          </a:solidFill>
          <a:ln w="10160">
            <a:solidFill>
              <a:srgbClr val="B7DF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65376" y="2665476"/>
            <a:ext cx="11338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87B7B"/>
                </a:solidFill>
              </a:rPr>
              <a:t>ORTHOPAEDICS</a:t>
            </a:r>
            <a:endParaRPr lang="en-US" sz="830" dirty="0"/>
          </a:p>
        </p:txBody>
      </p:sp>
      <p:sp>
        <p:nvSpPr>
          <p:cNvPr id="11" name="Text 9"/>
          <p:cNvSpPr/>
          <p:nvPr/>
        </p:nvSpPr>
        <p:spPr>
          <a:xfrm>
            <a:off x="896112" y="3163824"/>
            <a:ext cx="2057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36515A"/>
                </a:solidFill>
              </a:rPr>
              <a:t>The user/pathway declares these capabilities. No clinical prediction is performed.</a:t>
            </a:r>
            <a:endParaRPr lang="en-US" sz="1030" dirty="0"/>
          </a:p>
        </p:txBody>
      </p:sp>
      <p:sp>
        <p:nvSpPr>
          <p:cNvPr id="12" name="Text 10"/>
          <p:cNvSpPr/>
          <p:nvPr/>
        </p:nvSpPr>
        <p:spPr>
          <a:xfrm>
            <a:off x="896112" y="431596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F07C45"/>
                </a:solidFill>
              </a:rPr>
              <a:t>Safety boundary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896112" y="4645152"/>
            <a:ext cx="20848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33C"/>
                </a:solidFill>
              </a:rPr>
              <a:t>Information only • human decision remains final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776472" y="2834640"/>
            <a:ext cx="566928" cy="914400"/>
          </a:xfrm>
          <a:prstGeom prst="chevron">
            <a:avLst/>
          </a:prstGeom>
          <a:solidFill>
            <a:srgbClr val="F07C45"/>
          </a:solidFill>
          <a:ln w="12700">
            <a:solidFill>
              <a:srgbClr val="F07C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09160" y="1417320"/>
            <a:ext cx="6812280" cy="4297680"/>
          </a:xfrm>
          <a:prstGeom prst="roundRect">
            <a:avLst/>
          </a:prstGeom>
          <a:solidFill>
            <a:srgbClr val="E7F6F6"/>
          </a:solidFill>
          <a:ln w="12700">
            <a:solidFill>
              <a:srgbClr val="B8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1755648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33C"/>
                </a:solidFill>
              </a:rPr>
              <a:t>Estimate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029200" y="22128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7B7B"/>
                </a:solidFill>
              </a:rPr>
              <a:t>Expected time-to-care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74920" y="27706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6515A"/>
                </a:solidFill>
              </a:rPr>
              <a:t>Travel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616952" y="277063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333C"/>
                </a:solidFill>
              </a:rPr>
              <a:t>18 min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74920" y="3026664"/>
            <a:ext cx="3401568" cy="82296"/>
          </a:xfrm>
          <a:prstGeom prst="rect">
            <a:avLst/>
          </a:prstGeom>
          <a:solidFill>
            <a:srgbClr val="DDE9EC"/>
          </a:solidFill>
          <a:ln w="12700">
            <a:solidFill>
              <a:srgbClr val="DDE9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74920" y="3026664"/>
            <a:ext cx="1020470" cy="82296"/>
          </a:xfrm>
          <a:prstGeom prst="rect">
            <a:avLst/>
          </a:prstGeom>
          <a:solidFill>
            <a:srgbClr val="4C7ED6"/>
          </a:solidFill>
          <a:ln w="12700">
            <a:solidFill>
              <a:srgbClr val="4C7E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4920" y="331927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6515A"/>
                </a:solidFill>
              </a:rPr>
              <a:t>ED delay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616952" y="331927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333C"/>
                </a:solidFill>
              </a:rPr>
              <a:t>15 min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74920" y="3575304"/>
            <a:ext cx="3401568" cy="82296"/>
          </a:xfrm>
          <a:prstGeom prst="rect">
            <a:avLst/>
          </a:prstGeom>
          <a:solidFill>
            <a:srgbClr val="DDE9EC"/>
          </a:solidFill>
          <a:ln w="12700">
            <a:solidFill>
              <a:srgbClr val="DDE9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74920" y="3575304"/>
            <a:ext cx="850392" cy="82296"/>
          </a:xfrm>
          <a:prstGeom prst="rect">
            <a:avLst/>
          </a:prstGeom>
          <a:solidFill>
            <a:srgbClr val="F07C45"/>
          </a:solidFill>
          <a:ln w="12700">
            <a:solidFill>
              <a:srgbClr val="F07C4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74920" y="386791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6515A"/>
                </a:solidFill>
              </a:rPr>
              <a:t>X-ray delay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616952" y="386791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333C"/>
                </a:solidFill>
              </a:rPr>
              <a:t>15 min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74920" y="4123944"/>
            <a:ext cx="3401568" cy="82296"/>
          </a:xfrm>
          <a:prstGeom prst="rect">
            <a:avLst/>
          </a:prstGeom>
          <a:solidFill>
            <a:srgbClr val="DDE9EC"/>
          </a:solidFill>
          <a:ln w="12700">
            <a:solidFill>
              <a:srgbClr val="DDE9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74920" y="4123944"/>
            <a:ext cx="850392" cy="82296"/>
          </a:xfrm>
          <a:prstGeom prst="rect">
            <a:avLst/>
          </a:prstGeom>
          <a:solidFill>
            <a:srgbClr val="D95D5D"/>
          </a:solidFill>
          <a:ln w="12700">
            <a:solidFill>
              <a:srgbClr val="D95D5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74920" y="441655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6515A"/>
                </a:solidFill>
              </a:rPr>
              <a:t>Orthopaedics delay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616952" y="441655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333C"/>
                </a:solidFill>
              </a:rPr>
              <a:t>5 min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074920" y="4672584"/>
            <a:ext cx="3401568" cy="82296"/>
          </a:xfrm>
          <a:prstGeom prst="rect">
            <a:avLst/>
          </a:prstGeom>
          <a:solidFill>
            <a:srgbClr val="DDE9EC"/>
          </a:solidFill>
          <a:ln w="12700">
            <a:solidFill>
              <a:srgbClr val="DDE9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74920" y="4672584"/>
            <a:ext cx="283464" cy="82296"/>
          </a:xfrm>
          <a:prstGeom prst="rect">
            <a:avLst/>
          </a:prstGeom>
          <a:solidFill>
            <a:srgbClr val="159A6D"/>
          </a:solidFill>
          <a:ln w="12700">
            <a:solidFill>
              <a:srgbClr val="159A6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887968" y="2240280"/>
            <a:ext cx="2057400" cy="2706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7DCD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098280" y="281635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59A6D"/>
                </a:solidFill>
              </a:rPr>
              <a:t>53 min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9171432" y="341071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0828A"/>
                </a:solidFill>
              </a:rPr>
              <a:t>expected TTC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9244584" y="4041648"/>
            <a:ext cx="1389888" cy="310896"/>
          </a:xfrm>
          <a:prstGeom prst="roundRect">
            <a:avLst/>
          </a:prstGeom>
          <a:solidFill>
            <a:srgbClr val="EAF7F2"/>
          </a:solidFill>
          <a:ln w="10160">
            <a:solidFill>
              <a:srgbClr val="BFE2D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299448" y="4119372"/>
            <a:ext cx="1280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59A6D"/>
                </a:solidFill>
              </a:rPr>
              <a:t>45–61 min</a:t>
            </a:r>
            <a:endParaRPr lang="en-US" sz="830" dirty="0"/>
          </a:p>
        </p:txBody>
      </p:sp>
      <p:sp>
        <p:nvSpPr>
          <p:cNvPr id="39" name="Text 37"/>
          <p:cNvSpPr/>
          <p:nvPr/>
        </p:nvSpPr>
        <p:spPr>
          <a:xfrm>
            <a:off x="9025128" y="459028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70828A"/>
                </a:solidFill>
              </a:rPr>
              <a:t>Freshness: 7 min • confidence: 84%</a:t>
            </a:r>
            <a:endParaRPr lang="en-US" sz="8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9AA8A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3C"/>
                </a:solidFill>
              </a:rPr>
              <a:t>The technical contribution is an open capacity-signal interface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0828A"/>
                </a:solidFill>
              </a:rPr>
              <a:t>Adapters stay at the edge; the estimator consumes one small, testable representation.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874520"/>
            <a:ext cx="1965960" cy="2331720"/>
          </a:xfrm>
          <a:prstGeom prst="roundRect">
            <a:avLst/>
          </a:prstGeom>
          <a:solidFill>
            <a:srgbClr val="EDF3FF"/>
          </a:solidFill>
          <a:ln w="12700">
            <a:solidFill>
              <a:srgbClr val="C8D8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2231136"/>
            <a:ext cx="1563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33C"/>
                </a:solidFill>
              </a:rPr>
              <a:t>Source feeds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95528" y="2880360"/>
            <a:ext cx="15636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36515A"/>
                </a:solidFill>
              </a:rPr>
              <a:t>FHIR-like • ROR-style • local systems • synthetic</a:t>
            </a:r>
            <a:endParaRPr lang="en-US" sz="980" dirty="0"/>
          </a:p>
        </p:txBody>
      </p:sp>
      <p:sp>
        <p:nvSpPr>
          <p:cNvPr id="7" name="Shape 5"/>
          <p:cNvSpPr/>
          <p:nvPr/>
        </p:nvSpPr>
        <p:spPr>
          <a:xfrm>
            <a:off x="2706624" y="2679192"/>
            <a:ext cx="365760" cy="658368"/>
          </a:xfrm>
          <a:prstGeom prst="chevron">
            <a:avLst/>
          </a:prstGeom>
          <a:solidFill>
            <a:srgbClr val="AABBC1"/>
          </a:solidFill>
          <a:ln w="12700">
            <a:solidFill>
              <a:srgbClr val="AABBC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07792" y="1874520"/>
            <a:ext cx="2331720" cy="2331720"/>
          </a:xfrm>
          <a:prstGeom prst="roundRect">
            <a:avLst/>
          </a:prstGeom>
          <a:solidFill>
            <a:srgbClr val="E7F6F6"/>
          </a:solidFill>
          <a:ln w="12700">
            <a:solidFill>
              <a:srgbClr val="B6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0" y="2231136"/>
            <a:ext cx="1929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33C"/>
                </a:solidFill>
              </a:rPr>
              <a:t>Open capacity schema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108960" y="2880360"/>
            <a:ext cx="19293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36515A"/>
                </a:solidFill>
              </a:rPr>
              <a:t>capabilities • delays • closures • source • freshness • confidence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5385816" y="2679192"/>
            <a:ext cx="365760" cy="658368"/>
          </a:xfrm>
          <a:prstGeom prst="chevron">
            <a:avLst/>
          </a:prstGeom>
          <a:solidFill>
            <a:srgbClr val="AABBC1"/>
          </a:solidFill>
          <a:ln w="12700">
            <a:solidFill>
              <a:srgbClr val="AABBC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96128" y="1874520"/>
            <a:ext cx="2148840" cy="2331720"/>
          </a:xfrm>
          <a:prstGeom prst="roundRect">
            <a:avLst/>
          </a:prstGeom>
          <a:solidFill>
            <a:srgbClr val="FFF2EA"/>
          </a:solidFill>
          <a:ln w="12700">
            <a:solidFill>
              <a:srgbClr val="F1C9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97296" y="2231136"/>
            <a:ext cx="1746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33C"/>
                </a:solidFill>
              </a:rPr>
              <a:t>Reference engine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797296" y="2880360"/>
            <a:ext cx="17465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36515A"/>
                </a:solidFill>
              </a:rPr>
              <a:t>eligibility • TTC estimate • uncertainty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7891272" y="2679192"/>
            <a:ext cx="365760" cy="658368"/>
          </a:xfrm>
          <a:prstGeom prst="chevron">
            <a:avLst/>
          </a:prstGeom>
          <a:solidFill>
            <a:srgbClr val="AABBC1"/>
          </a:solidFill>
          <a:ln w="12700">
            <a:solidFill>
              <a:srgbClr val="AABBC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01584" y="1874520"/>
            <a:ext cx="3474720" cy="2331720"/>
          </a:xfrm>
          <a:prstGeom prst="roundRect">
            <a:avLst/>
          </a:prstGeom>
          <a:solidFill>
            <a:srgbClr val="EAF7F2"/>
          </a:solidFill>
          <a:ln w="12700">
            <a:solidFill>
              <a:srgbClr val="BDE1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02752" y="2231136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33C"/>
                </a:solidFill>
              </a:rPr>
              <a:t>Explainable output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02752" y="2880360"/>
            <a:ext cx="30723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36515A"/>
                </a:solidFill>
              </a:rPr>
              <a:t>ranked eligible options • ranges • change reasons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1005840" y="4681728"/>
            <a:ext cx="10104120" cy="1005840"/>
          </a:xfrm>
          <a:prstGeom prst="roundRect">
            <a:avLst/>
          </a:prstGeom>
          <a:solidFill>
            <a:srgbClr val="103844"/>
          </a:solidFill>
          <a:ln w="12700">
            <a:solidFill>
              <a:srgbClr val="214A5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07592" y="4965192"/>
            <a:ext cx="9528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New country or hospital? Write an adapter — not a new ranking engine.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07592" y="5367528"/>
            <a:ext cx="9528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BBD8DE"/>
                </a:solidFill>
              </a:rPr>
              <a:t>The schema is versioned JSON Schema 2020-12 and the demo fixtures validate offline in CI.</a:t>
            </a:r>
            <a:endParaRPr lang="en-US" sz="9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9AA8A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3C"/>
                </a:solidFill>
              </a:rPr>
              <a:t>A capacity snapshot is small enough to inspect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0828A"/>
                </a:solidFill>
              </a:rPr>
              <a:t>The v0.1 schema contains operational signals — no patient identifier, diagnosis, or destination decision.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6446520" cy="4526280"/>
          </a:xfrm>
          <a:prstGeom prst="roundRect">
            <a:avLst/>
          </a:prstGeom>
          <a:solidFill>
            <a:srgbClr val="132F38"/>
          </a:solidFill>
          <a:ln w="12700">
            <a:solidFill>
              <a:srgbClr val="2749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719072"/>
            <a:ext cx="5806440" cy="3886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DD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D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"patient_need":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D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"required_capabilities": ["xray", "orthopedics"]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D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D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"hospitals": [{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D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"hospital_id": "B",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D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"travel_minutes": 18,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D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"ed_delay_minutes": 15,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D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"resource_delays": {"xray": 15, "orthopedics": 5},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D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"temporary_closures": [],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D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"freshness_minutes": 7,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D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"confidence": 0.84,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D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"source": "synthetic://hospital-b"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D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}]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D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7406640" y="1527048"/>
            <a:ext cx="40690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26096" y="1636776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33C"/>
                </a:solidFill>
              </a:rPr>
              <a:t>Capabilities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887968" y="1636776"/>
            <a:ext cx="22494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36515A"/>
                </a:solidFill>
              </a:rPr>
              <a:t>Eligibility before ranking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7406640" y="2249424"/>
            <a:ext cx="40690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26096" y="235915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33C"/>
                </a:solidFill>
              </a:rPr>
              <a:t>Operational delays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887968" y="2359152"/>
            <a:ext cx="22494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36515A"/>
                </a:solidFill>
              </a:rPr>
              <a:t>Separate ED and resource signals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7406640" y="2971800"/>
            <a:ext cx="40690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26096" y="3081528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33C"/>
                </a:solidFill>
              </a:rPr>
              <a:t>Closures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887968" y="3081528"/>
            <a:ext cx="22494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36515A"/>
                </a:solidFill>
              </a:rPr>
              <a:t>A resource can become unavailable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7406640" y="3694176"/>
            <a:ext cx="4069080" cy="566928"/>
          </a:xfrm>
          <a:prstGeom prst="roundRect">
            <a:avLst/>
          </a:prstGeom>
          <a:solidFill>
            <a:srgbClr val="FFF2EA"/>
          </a:solidFill>
          <a:ln w="12700">
            <a:solidFill>
              <a:srgbClr val="F3C6A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26096" y="380390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7C45"/>
                </a:solidFill>
              </a:rPr>
              <a:t>Freshness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887968" y="3803904"/>
            <a:ext cx="22494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36515A"/>
                </a:solidFill>
              </a:rPr>
              <a:t>Stale data widens uncertainty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7406640" y="4416552"/>
            <a:ext cx="40690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26096" y="452628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33C"/>
                </a:solidFill>
              </a:rPr>
              <a:t>Confidence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887968" y="4526280"/>
            <a:ext cx="22494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36515A"/>
                </a:solidFill>
              </a:rPr>
              <a:t>Visible instead of hidden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7406640" y="5138928"/>
            <a:ext cx="40690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26096" y="5248656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33C"/>
                </a:solidFill>
              </a:rPr>
              <a:t>Source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887968" y="5248656"/>
            <a:ext cx="22494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36515A"/>
                </a:solidFill>
              </a:rPr>
              <a:t>Every signal is attributable</a:t>
            </a:r>
            <a:endParaRPr lang="en-US" sz="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9AA8A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3C"/>
                </a:solidFill>
              </a:rPr>
              <a:t>The live demo is deterministic: one click, a visible ranking change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0828A"/>
                </a:solidFill>
              </a:rPr>
              <a:t>Same pathway. Same hospitals. Only the operational signals change.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13232" y="139903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33C"/>
                </a:solidFill>
              </a:rPr>
              <a:t>T = 0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12648" y="1755648"/>
            <a:ext cx="5010912" cy="34381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2157984"/>
            <a:ext cx="347472" cy="347472"/>
          </a:xfrm>
          <a:prstGeom prst="ellipse">
            <a:avLst/>
          </a:prstGeom>
          <a:solidFill>
            <a:srgbClr val="159A6D"/>
          </a:solidFill>
          <a:ln w="12700">
            <a:solidFill>
              <a:srgbClr val="159A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249424"/>
            <a:ext cx="34747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399032" y="2139696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333C"/>
                </a:solidFill>
              </a:rPr>
              <a:t>Hospital B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399032" y="2414016"/>
            <a:ext cx="1261872" cy="310896"/>
          </a:xfrm>
          <a:prstGeom prst="roundRect">
            <a:avLst/>
          </a:prstGeom>
          <a:solidFill>
            <a:srgbClr val="EAF7F2"/>
          </a:solidFill>
          <a:ln w="10160">
            <a:solidFill>
              <a:srgbClr val="BCE2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53896" y="2491740"/>
            <a:ext cx="11521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59A6D"/>
                </a:solidFill>
              </a:rPr>
              <a:t>FASTEST</a:t>
            </a:r>
            <a:endParaRPr lang="en-US" sz="830" dirty="0"/>
          </a:p>
        </p:txBody>
      </p:sp>
      <p:sp>
        <p:nvSpPr>
          <p:cNvPr id="11" name="Text 9"/>
          <p:cNvSpPr/>
          <p:nvPr/>
        </p:nvSpPr>
        <p:spPr>
          <a:xfrm>
            <a:off x="4306824" y="2148840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59A6D"/>
                </a:solidFill>
              </a:rPr>
              <a:t>53 min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96112" y="2944368"/>
            <a:ext cx="347472" cy="347472"/>
          </a:xfrm>
          <a:prstGeom prst="ellipse">
            <a:avLst/>
          </a:prstGeom>
          <a:solidFill>
            <a:srgbClr val="4C7ED6"/>
          </a:solidFill>
          <a:ln w="12700">
            <a:solidFill>
              <a:srgbClr val="4C7E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3035808"/>
            <a:ext cx="34747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399032" y="2926080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333C"/>
                </a:solidFill>
              </a:rPr>
              <a:t>Hospital C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06824" y="2935224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4C7ED6"/>
                </a:solidFill>
              </a:rPr>
              <a:t>64 min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96112" y="3730752"/>
            <a:ext cx="347472" cy="347472"/>
          </a:xfrm>
          <a:prstGeom prst="ellipse">
            <a:avLst/>
          </a:prstGeom>
          <a:solidFill>
            <a:srgbClr val="F07C45"/>
          </a:solidFill>
          <a:ln w="12700">
            <a:solidFill>
              <a:srgbClr val="F07C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3822192"/>
            <a:ext cx="34747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399032" y="3712464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333C"/>
                </a:solidFill>
              </a:rPr>
              <a:t>Hospital 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306824" y="3721608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07C45"/>
                </a:solidFill>
              </a:rPr>
              <a:t>186 min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96112" y="4608576"/>
            <a:ext cx="1536192" cy="310896"/>
          </a:xfrm>
          <a:prstGeom prst="roundRect">
            <a:avLst/>
          </a:prstGeom>
          <a:solidFill>
            <a:srgbClr val="FCEEEE"/>
          </a:solidFill>
          <a:ln w="10160">
            <a:solidFill>
              <a:srgbClr val="F1CA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0976" y="4686300"/>
            <a:ext cx="14264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D95D5D"/>
                </a:solidFill>
              </a:rPr>
              <a:t>Hospital D excluded</a:t>
            </a:r>
            <a:endParaRPr lang="en-US" sz="830" dirty="0"/>
          </a:p>
        </p:txBody>
      </p:sp>
      <p:sp>
        <p:nvSpPr>
          <p:cNvPr id="22" name="Shape 20"/>
          <p:cNvSpPr/>
          <p:nvPr/>
        </p:nvSpPr>
        <p:spPr>
          <a:xfrm>
            <a:off x="5879592" y="2743200"/>
            <a:ext cx="621792" cy="960120"/>
          </a:xfrm>
          <a:prstGeom prst="chevron">
            <a:avLst/>
          </a:prstGeom>
          <a:solidFill>
            <a:srgbClr val="0BA3A3"/>
          </a:solidFill>
          <a:ln w="12700">
            <a:solidFill>
              <a:srgbClr val="0BA3A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9864" y="3776472"/>
            <a:ext cx="850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7B7B"/>
                </a:solidFill>
              </a:rPr>
              <a:t>Next →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839712" y="139903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33C"/>
                </a:solidFill>
              </a:rPr>
              <a:t>T = 15 min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739128" y="1755648"/>
            <a:ext cx="4828032" cy="3438144"/>
          </a:xfrm>
          <a:prstGeom prst="roundRect">
            <a:avLst/>
          </a:prstGeom>
          <a:solidFill>
            <a:srgbClr val="E7F6F6"/>
          </a:solidFill>
          <a:ln w="12700">
            <a:solidFill>
              <a:srgbClr val="B5DED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22592" y="2157984"/>
            <a:ext cx="347472" cy="347472"/>
          </a:xfrm>
          <a:prstGeom prst="ellipse">
            <a:avLst/>
          </a:prstGeom>
          <a:solidFill>
            <a:srgbClr val="159A6D"/>
          </a:solidFill>
          <a:ln w="12700">
            <a:solidFill>
              <a:srgbClr val="159A6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22592" y="2249424"/>
            <a:ext cx="34747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525512" y="213969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333C"/>
                </a:solidFill>
              </a:rPr>
              <a:t>Hospital C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525512" y="2414016"/>
            <a:ext cx="1261872" cy="310896"/>
          </a:xfrm>
          <a:prstGeom prst="roundRect">
            <a:avLst/>
          </a:prstGeom>
          <a:solidFill>
            <a:srgbClr val="EAF7F2"/>
          </a:solidFill>
          <a:ln w="10160">
            <a:solidFill>
              <a:srgbClr val="BCE2D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80376" y="2491740"/>
            <a:ext cx="11521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59A6D"/>
                </a:solidFill>
              </a:rPr>
              <a:t>NEW FASTEST</a:t>
            </a:r>
            <a:endParaRPr lang="en-US" sz="830" dirty="0"/>
          </a:p>
        </p:txBody>
      </p:sp>
      <p:sp>
        <p:nvSpPr>
          <p:cNvPr id="31" name="Text 29"/>
          <p:cNvSpPr/>
          <p:nvPr/>
        </p:nvSpPr>
        <p:spPr>
          <a:xfrm>
            <a:off x="10268712" y="2148840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59A6D"/>
                </a:solidFill>
              </a:rPr>
              <a:t>48 min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022592" y="2944368"/>
            <a:ext cx="347472" cy="347472"/>
          </a:xfrm>
          <a:prstGeom prst="ellipse">
            <a:avLst/>
          </a:prstGeom>
          <a:solidFill>
            <a:srgbClr val="4C7ED6"/>
          </a:solidFill>
          <a:ln w="12700">
            <a:solidFill>
              <a:srgbClr val="4C7ED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22592" y="3035808"/>
            <a:ext cx="34747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525512" y="292608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333C"/>
                </a:solidFill>
              </a:rPr>
              <a:t>Hospital B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268712" y="2935224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4C7ED6"/>
                </a:solidFill>
              </a:rPr>
              <a:t>62 min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022592" y="3730752"/>
            <a:ext cx="347472" cy="347472"/>
          </a:xfrm>
          <a:prstGeom prst="ellipse">
            <a:avLst/>
          </a:prstGeom>
          <a:solidFill>
            <a:srgbClr val="F07C45"/>
          </a:solidFill>
          <a:ln w="12700">
            <a:solidFill>
              <a:srgbClr val="F07C4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22592" y="3822192"/>
            <a:ext cx="34747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525512" y="371246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333C"/>
                </a:solidFill>
              </a:rPr>
              <a:t>Hospital A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0268712" y="3721608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07C45"/>
                </a:solidFill>
              </a:rPr>
              <a:t>187 min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7022592" y="4608576"/>
            <a:ext cx="1536192" cy="310896"/>
          </a:xfrm>
          <a:prstGeom prst="roundRect">
            <a:avLst/>
          </a:prstGeom>
          <a:solidFill>
            <a:srgbClr val="FCEEEE"/>
          </a:solidFill>
          <a:ln w="10160">
            <a:solidFill>
              <a:srgbClr val="F1CAC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077456" y="4686300"/>
            <a:ext cx="14264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D95D5D"/>
                </a:solidFill>
              </a:rPr>
              <a:t>Hospital D excluded</a:t>
            </a:r>
            <a:endParaRPr lang="en-US" sz="830" dirty="0"/>
          </a:p>
        </p:txBody>
      </p:sp>
      <p:sp>
        <p:nvSpPr>
          <p:cNvPr id="42" name="Shape 40"/>
          <p:cNvSpPr/>
          <p:nvPr/>
        </p:nvSpPr>
        <p:spPr>
          <a:xfrm>
            <a:off x="612648" y="5486400"/>
            <a:ext cx="10954512" cy="640080"/>
          </a:xfrm>
          <a:prstGeom prst="roundRect">
            <a:avLst/>
          </a:prstGeom>
          <a:solidFill>
            <a:srgbClr val="103844"/>
          </a:solidFill>
          <a:ln w="12700">
            <a:solidFill>
              <a:srgbClr val="214A5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96112" y="5687568"/>
            <a:ext cx="10369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</a:rPr>
              <a:t>Why it changed: Hospital C improved by 16 min; Hospital B worsened by 9 min as ED load rose.</a:t>
            </a:r>
            <a:endParaRPr lang="en-US" sz="10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9AA8A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3C"/>
                </a:solidFill>
              </a:rPr>
              <a:t>Ranges, freshness and reasons — not a magic score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0828A"/>
                </a:solidFill>
              </a:rPr>
              <a:t>The demo makes uncertainty inspectable and widens intervals when signals are less reliable or stale.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484632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7647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33C"/>
                </a:solidFill>
              </a:rPr>
              <a:t>Hospital C at T = 15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96112" y="230428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59A6D"/>
                </a:solidFill>
              </a:rPr>
              <a:t>48 min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896112" y="27889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70828A"/>
                </a:solidFill>
              </a:rPr>
              <a:t>expected time-to-care</a:t>
            </a:r>
            <a:endParaRPr lang="en-US" sz="970" dirty="0"/>
          </a:p>
        </p:txBody>
      </p:sp>
      <p:sp>
        <p:nvSpPr>
          <p:cNvPr id="8" name="Shape 6"/>
          <p:cNvSpPr/>
          <p:nvPr/>
        </p:nvSpPr>
        <p:spPr>
          <a:xfrm>
            <a:off x="896112" y="3246120"/>
            <a:ext cx="1444752" cy="310896"/>
          </a:xfrm>
          <a:prstGeom prst="roundRect">
            <a:avLst/>
          </a:prstGeom>
          <a:solidFill>
            <a:srgbClr val="EAF7F2"/>
          </a:solidFill>
          <a:ln w="10160">
            <a:solidFill>
              <a:srgbClr val="BCE2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3323844"/>
            <a:ext cx="13350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59A6D"/>
                </a:solidFill>
              </a:rPr>
              <a:t>43–53 min range</a:t>
            </a:r>
            <a:endParaRPr lang="en-US" sz="830" dirty="0"/>
          </a:p>
        </p:txBody>
      </p:sp>
      <p:sp>
        <p:nvSpPr>
          <p:cNvPr id="10" name="Shape 8"/>
          <p:cNvSpPr/>
          <p:nvPr/>
        </p:nvSpPr>
        <p:spPr>
          <a:xfrm>
            <a:off x="2487168" y="3246120"/>
            <a:ext cx="1005840" cy="310896"/>
          </a:xfrm>
          <a:prstGeom prst="roundRect">
            <a:avLst/>
          </a:prstGeom>
          <a:solidFill>
            <a:srgbClr val="E7F6F6"/>
          </a:solidFill>
          <a:ln w="10160">
            <a:solidFill>
              <a:srgbClr val="B6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42032" y="3323844"/>
            <a:ext cx="8961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87B7B"/>
                </a:solidFill>
              </a:rPr>
              <a:t>2 min old</a:t>
            </a:r>
            <a:endParaRPr lang="en-US" sz="830" dirty="0"/>
          </a:p>
        </p:txBody>
      </p:sp>
      <p:sp>
        <p:nvSpPr>
          <p:cNvPr id="12" name="Shape 10"/>
          <p:cNvSpPr/>
          <p:nvPr/>
        </p:nvSpPr>
        <p:spPr>
          <a:xfrm>
            <a:off x="3639312" y="3246120"/>
            <a:ext cx="1234440" cy="310896"/>
          </a:xfrm>
          <a:prstGeom prst="roundRect">
            <a:avLst/>
          </a:prstGeom>
          <a:solidFill>
            <a:srgbClr val="EDF3FF"/>
          </a:solidFill>
          <a:ln w="10160">
            <a:solidFill>
              <a:srgbClr val="C8D8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94176" y="3323844"/>
            <a:ext cx="11247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4C7ED6"/>
                </a:solidFill>
              </a:rPr>
              <a:t>91% confidence</a:t>
            </a:r>
            <a:endParaRPr lang="en-US" sz="830" dirty="0"/>
          </a:p>
        </p:txBody>
      </p:sp>
      <p:sp>
        <p:nvSpPr>
          <p:cNvPr id="14" name="Shape 12"/>
          <p:cNvSpPr/>
          <p:nvPr/>
        </p:nvSpPr>
        <p:spPr>
          <a:xfrm>
            <a:off x="896112" y="3895344"/>
            <a:ext cx="4242816" cy="0"/>
          </a:xfrm>
          <a:prstGeom prst="line">
            <a:avLst/>
          </a:prstGeom>
          <a:noFill/>
          <a:ln w="12700">
            <a:solidFill>
              <a:srgbClr val="DDE6E8"/>
            </a:solidFill>
            <a:prstDash val="solid"/>
            <a:headEnd type="none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896112" y="418795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36515A"/>
                </a:solidFill>
              </a:rPr>
              <a:t>Travel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2057400" y="4233672"/>
            <a:ext cx="2240280" cy="91440"/>
          </a:xfrm>
          <a:prstGeom prst="rect">
            <a:avLst/>
          </a:prstGeom>
          <a:solidFill>
            <a:srgbClr val="E9EFF1"/>
          </a:solidFill>
          <a:ln w="12700">
            <a:solidFill>
              <a:srgbClr val="E9EFF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57400" y="4233672"/>
            <a:ext cx="2016252" cy="91440"/>
          </a:xfrm>
          <a:prstGeom prst="rect">
            <a:avLst/>
          </a:prstGeom>
          <a:solidFill>
            <a:srgbClr val="4C7ED6"/>
          </a:solidFill>
          <a:ln w="12700">
            <a:solidFill>
              <a:srgbClr val="4C7E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07408" y="4187952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30" b="1" dirty="0">
                <a:solidFill>
                  <a:srgbClr val="16333C"/>
                </a:solidFill>
              </a:rPr>
              <a:t>27 min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896112" y="453542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36515A"/>
                </a:solidFill>
              </a:rPr>
              <a:t>ED delay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2057400" y="4581144"/>
            <a:ext cx="2240280" cy="91440"/>
          </a:xfrm>
          <a:prstGeom prst="rect">
            <a:avLst/>
          </a:prstGeom>
          <a:solidFill>
            <a:srgbClr val="E9EFF1"/>
          </a:solidFill>
          <a:ln w="12700">
            <a:solidFill>
              <a:srgbClr val="E9EFF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57400" y="4581144"/>
            <a:ext cx="597408" cy="91440"/>
          </a:xfrm>
          <a:prstGeom prst="rect">
            <a:avLst/>
          </a:prstGeom>
          <a:solidFill>
            <a:srgbClr val="F07C45"/>
          </a:solidFill>
          <a:ln w="12700">
            <a:solidFill>
              <a:srgbClr val="F07C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07408" y="453542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30" b="1" dirty="0">
                <a:solidFill>
                  <a:srgbClr val="16333C"/>
                </a:solidFill>
              </a:rPr>
              <a:t>8 min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896112" y="488289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36515A"/>
                </a:solidFill>
              </a:rPr>
              <a:t>X-ray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2057400" y="4928616"/>
            <a:ext cx="2240280" cy="91440"/>
          </a:xfrm>
          <a:prstGeom prst="rect">
            <a:avLst/>
          </a:prstGeom>
          <a:solidFill>
            <a:srgbClr val="E9EFF1"/>
          </a:solidFill>
          <a:ln w="12700">
            <a:solidFill>
              <a:srgbClr val="E9EFF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57400" y="4928616"/>
            <a:ext cx="597408" cy="91440"/>
          </a:xfrm>
          <a:prstGeom prst="rect">
            <a:avLst/>
          </a:prstGeom>
          <a:solidFill>
            <a:srgbClr val="D95D5D"/>
          </a:solidFill>
          <a:ln w="12700">
            <a:solidFill>
              <a:srgbClr val="D95D5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07408" y="4882896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30" b="1" dirty="0">
                <a:solidFill>
                  <a:srgbClr val="16333C"/>
                </a:solidFill>
              </a:rPr>
              <a:t>8 min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896112" y="523036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36515A"/>
                </a:solidFill>
              </a:rPr>
              <a:t>Orthopaedics</a:t>
            </a:r>
            <a:endParaRPr lang="en-US" sz="930" dirty="0"/>
          </a:p>
        </p:txBody>
      </p:sp>
      <p:sp>
        <p:nvSpPr>
          <p:cNvPr id="28" name="Shape 26"/>
          <p:cNvSpPr/>
          <p:nvPr/>
        </p:nvSpPr>
        <p:spPr>
          <a:xfrm>
            <a:off x="2057400" y="5276088"/>
            <a:ext cx="2240280" cy="91440"/>
          </a:xfrm>
          <a:prstGeom prst="rect">
            <a:avLst/>
          </a:prstGeom>
          <a:solidFill>
            <a:srgbClr val="E9EFF1"/>
          </a:solidFill>
          <a:ln w="12700">
            <a:solidFill>
              <a:srgbClr val="E9EFF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057400" y="5276088"/>
            <a:ext cx="373380" cy="91440"/>
          </a:xfrm>
          <a:prstGeom prst="rect">
            <a:avLst/>
          </a:prstGeom>
          <a:solidFill>
            <a:srgbClr val="159A6D"/>
          </a:solidFill>
          <a:ln w="12700">
            <a:solidFill>
              <a:srgbClr val="159A6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07408" y="5230368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30" b="1" dirty="0">
                <a:solidFill>
                  <a:srgbClr val="16333C"/>
                </a:solidFill>
              </a:rPr>
              <a:t>5 min</a:t>
            </a:r>
            <a:endParaRPr lang="en-US" sz="930" dirty="0"/>
          </a:p>
        </p:txBody>
      </p:sp>
      <p:sp>
        <p:nvSpPr>
          <p:cNvPr id="31" name="Text 29"/>
          <p:cNvSpPr/>
          <p:nvPr/>
        </p:nvSpPr>
        <p:spPr>
          <a:xfrm>
            <a:off x="5897880" y="1609344"/>
            <a:ext cx="5074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33C"/>
                </a:solidFill>
              </a:rPr>
              <a:t>The ranking explanation is generated from the same component deltas used by the estimator.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5925312" y="2450592"/>
            <a:ext cx="228600" cy="228600"/>
          </a:xfrm>
          <a:prstGeom prst="ellipse">
            <a:avLst/>
          </a:prstGeom>
          <a:solidFill>
            <a:srgbClr val="0BA3A3"/>
          </a:solidFill>
          <a:ln w="12700">
            <a:solidFill>
              <a:srgbClr val="0BA3A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25312" y="2478024"/>
            <a:ext cx="2286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✓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291072" y="242316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6333C"/>
                </a:solidFill>
              </a:rPr>
              <a:t>Eligibility first</a:t>
            </a:r>
            <a:endParaRPr lang="en-US" sz="1080" dirty="0"/>
          </a:p>
        </p:txBody>
      </p:sp>
      <p:sp>
        <p:nvSpPr>
          <p:cNvPr id="35" name="Text 33"/>
          <p:cNvSpPr/>
          <p:nvPr/>
        </p:nvSpPr>
        <p:spPr>
          <a:xfrm>
            <a:off x="7882128" y="2423160"/>
            <a:ext cx="3310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36515A"/>
                </a:solidFill>
              </a:rPr>
              <a:t>Missing or closed capabilities are excluded before ranking.</a:t>
            </a:r>
            <a:endParaRPr lang="en-US" sz="930" dirty="0"/>
          </a:p>
        </p:txBody>
      </p:sp>
      <p:sp>
        <p:nvSpPr>
          <p:cNvPr id="36" name="Shape 34"/>
          <p:cNvSpPr/>
          <p:nvPr/>
        </p:nvSpPr>
        <p:spPr>
          <a:xfrm>
            <a:off x="5925312" y="3236976"/>
            <a:ext cx="228600" cy="228600"/>
          </a:xfrm>
          <a:prstGeom prst="ellipse">
            <a:avLst/>
          </a:prstGeom>
          <a:solidFill>
            <a:srgbClr val="0BA3A3"/>
          </a:solidFill>
          <a:ln w="12700">
            <a:solidFill>
              <a:srgbClr val="0BA3A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25312" y="3264408"/>
            <a:ext cx="2286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✓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291072" y="320954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6333C"/>
                </a:solidFill>
              </a:rPr>
              <a:t>No false precision</a:t>
            </a:r>
            <a:endParaRPr lang="en-US" sz="1080" dirty="0"/>
          </a:p>
        </p:txBody>
      </p:sp>
      <p:sp>
        <p:nvSpPr>
          <p:cNvPr id="39" name="Text 37"/>
          <p:cNvSpPr/>
          <p:nvPr/>
        </p:nvSpPr>
        <p:spPr>
          <a:xfrm>
            <a:off x="7882128" y="3209544"/>
            <a:ext cx="3310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36515A"/>
                </a:solidFill>
              </a:rPr>
              <a:t>The UI shows a range, not only a point estimate.</a:t>
            </a:r>
            <a:endParaRPr lang="en-US" sz="930" dirty="0"/>
          </a:p>
        </p:txBody>
      </p:sp>
      <p:sp>
        <p:nvSpPr>
          <p:cNvPr id="40" name="Shape 38"/>
          <p:cNvSpPr/>
          <p:nvPr/>
        </p:nvSpPr>
        <p:spPr>
          <a:xfrm>
            <a:off x="5925312" y="4023360"/>
            <a:ext cx="228600" cy="228600"/>
          </a:xfrm>
          <a:prstGeom prst="ellipse">
            <a:avLst/>
          </a:prstGeom>
          <a:solidFill>
            <a:srgbClr val="0BA3A3"/>
          </a:solidFill>
          <a:ln w="12700">
            <a:solidFill>
              <a:srgbClr val="0BA3A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25312" y="4050792"/>
            <a:ext cx="2286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✓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291072" y="399592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6333C"/>
                </a:solidFill>
              </a:rPr>
              <a:t>Freshness is data</a:t>
            </a:r>
            <a:endParaRPr lang="en-US" sz="1080" dirty="0"/>
          </a:p>
        </p:txBody>
      </p:sp>
      <p:sp>
        <p:nvSpPr>
          <p:cNvPr id="43" name="Text 41"/>
          <p:cNvSpPr/>
          <p:nvPr/>
        </p:nvSpPr>
        <p:spPr>
          <a:xfrm>
            <a:off x="7882128" y="3995928"/>
            <a:ext cx="3310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36515A"/>
                </a:solidFill>
              </a:rPr>
              <a:t>Older signals increase the uncertainty margin.</a:t>
            </a:r>
            <a:endParaRPr lang="en-US" sz="930" dirty="0"/>
          </a:p>
        </p:txBody>
      </p:sp>
      <p:sp>
        <p:nvSpPr>
          <p:cNvPr id="44" name="Shape 42"/>
          <p:cNvSpPr/>
          <p:nvPr/>
        </p:nvSpPr>
        <p:spPr>
          <a:xfrm>
            <a:off x="5925312" y="4809744"/>
            <a:ext cx="228600" cy="228600"/>
          </a:xfrm>
          <a:prstGeom prst="ellipse">
            <a:avLst/>
          </a:prstGeom>
          <a:solidFill>
            <a:srgbClr val="0BA3A3"/>
          </a:solidFill>
          <a:ln w="12700">
            <a:solidFill>
              <a:srgbClr val="0BA3A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925312" y="4837176"/>
            <a:ext cx="2286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✓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291072" y="478231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6333C"/>
                </a:solidFill>
              </a:rPr>
              <a:t>Change is explicit</a:t>
            </a:r>
            <a:endParaRPr lang="en-US" sz="1080" dirty="0"/>
          </a:p>
        </p:txBody>
      </p:sp>
      <p:sp>
        <p:nvSpPr>
          <p:cNvPr id="47" name="Text 45"/>
          <p:cNvSpPr/>
          <p:nvPr/>
        </p:nvSpPr>
        <p:spPr>
          <a:xfrm>
            <a:off x="7882128" y="4782312"/>
            <a:ext cx="3310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36515A"/>
                </a:solidFill>
              </a:rPr>
              <a:t>The app names which delays improved or worsened.</a:t>
            </a:r>
            <a:endParaRPr lang="en-US" sz="9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9AA8A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33C"/>
                </a:solidFill>
              </a:rPr>
              <a:t>v0.1 is built to be reproduced and extended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0828A"/>
                </a:solidFill>
              </a:rPr>
              <a:t>A FOSDEM demo should be clonable, testable and hackable — not only presented.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3822192" cy="4434840"/>
          </a:xfrm>
          <a:prstGeom prst="roundRect">
            <a:avLst/>
          </a:prstGeom>
          <a:solidFill>
            <a:srgbClr val="132F38"/>
          </a:solidFill>
          <a:ln w="12700">
            <a:solidFill>
              <a:srgbClr val="2749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7647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Run it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96112" y="2286000"/>
            <a:ext cx="306324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DD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clone …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DD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cd OpenCareFlow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DD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docker compose up --build</a:t>
            </a:r>
            <a:endParaRPr lang="en-US" sz="1240" dirty="0"/>
          </a:p>
        </p:txBody>
      </p:sp>
      <p:sp>
        <p:nvSpPr>
          <p:cNvPr id="7" name="Text 5"/>
          <p:cNvSpPr/>
          <p:nvPr/>
        </p:nvSpPr>
        <p:spPr>
          <a:xfrm>
            <a:off x="896112" y="35935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DBBC1"/>
                </a:solidFill>
              </a:rPr>
              <a:t>Then open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96112" y="39502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BE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http://localhost:8501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96112" y="4709160"/>
            <a:ext cx="1097280" cy="310896"/>
          </a:xfrm>
          <a:prstGeom prst="roundRect">
            <a:avLst/>
          </a:prstGeom>
          <a:solidFill>
            <a:srgbClr val="1B505B"/>
          </a:solidFill>
          <a:ln w="10160">
            <a:solidFill>
              <a:srgbClr val="326A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4786884"/>
            <a:ext cx="9875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C7E3E7"/>
                </a:solidFill>
              </a:rPr>
              <a:t>APACHE-2.0</a:t>
            </a:r>
            <a:endParaRPr lang="en-US" sz="830" dirty="0"/>
          </a:p>
        </p:txBody>
      </p:sp>
      <p:sp>
        <p:nvSpPr>
          <p:cNvPr id="11" name="Shape 9"/>
          <p:cNvSpPr/>
          <p:nvPr/>
        </p:nvSpPr>
        <p:spPr>
          <a:xfrm>
            <a:off x="2139696" y="4709160"/>
            <a:ext cx="1307592" cy="310896"/>
          </a:xfrm>
          <a:prstGeom prst="roundRect">
            <a:avLst/>
          </a:prstGeom>
          <a:solidFill>
            <a:srgbClr val="1B505B"/>
          </a:solidFill>
          <a:ln w="10160">
            <a:solidFill>
              <a:srgbClr val="326A7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94560" y="4786884"/>
            <a:ext cx="11978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C7E3E7"/>
                </a:solidFill>
              </a:rPr>
              <a:t>GITHUB ACTIONS</a:t>
            </a:r>
            <a:endParaRPr lang="en-US" sz="830" dirty="0"/>
          </a:p>
        </p:txBody>
      </p:sp>
      <p:sp>
        <p:nvSpPr>
          <p:cNvPr id="13" name="Shape 11"/>
          <p:cNvSpPr/>
          <p:nvPr/>
        </p:nvSpPr>
        <p:spPr>
          <a:xfrm>
            <a:off x="896112" y="5184648"/>
            <a:ext cx="1170432" cy="310896"/>
          </a:xfrm>
          <a:prstGeom prst="roundRect">
            <a:avLst/>
          </a:prstGeom>
          <a:solidFill>
            <a:srgbClr val="1B505B"/>
          </a:solidFill>
          <a:ln w="10160">
            <a:solidFill>
              <a:srgbClr val="326A7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0976" y="5262372"/>
            <a:ext cx="10607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C7E3E7"/>
                </a:solidFill>
              </a:rPr>
              <a:t>5 TESTS PASS</a:t>
            </a:r>
            <a:endParaRPr lang="en-US" sz="830" dirty="0"/>
          </a:p>
        </p:txBody>
      </p:sp>
      <p:sp>
        <p:nvSpPr>
          <p:cNvPr id="15" name="Shape 13"/>
          <p:cNvSpPr/>
          <p:nvPr/>
        </p:nvSpPr>
        <p:spPr>
          <a:xfrm>
            <a:off x="2212848" y="5184648"/>
            <a:ext cx="1097280" cy="310896"/>
          </a:xfrm>
          <a:prstGeom prst="roundRect">
            <a:avLst/>
          </a:prstGeom>
          <a:solidFill>
            <a:srgbClr val="1B505B"/>
          </a:solidFill>
          <a:ln w="10160">
            <a:solidFill>
              <a:srgbClr val="326A7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67712" y="5262372"/>
            <a:ext cx="9875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C7E3E7"/>
                </a:solidFill>
              </a:rPr>
              <a:t>3 SCENARIOS</a:t>
            </a:r>
            <a:endParaRPr lang="en-US" sz="830" dirty="0"/>
          </a:p>
        </p:txBody>
      </p:sp>
      <p:sp>
        <p:nvSpPr>
          <p:cNvPr id="17" name="Shape 15"/>
          <p:cNvSpPr/>
          <p:nvPr/>
        </p:nvSpPr>
        <p:spPr>
          <a:xfrm>
            <a:off x="4800600" y="1545336"/>
            <a:ext cx="6720840" cy="640080"/>
          </a:xfrm>
          <a:prstGeom prst="roundRect">
            <a:avLst/>
          </a:prstGeom>
          <a:solidFill>
            <a:srgbClr val="E7F6F6"/>
          </a:solidFill>
          <a:ln w="12700">
            <a:solidFill>
              <a:srgbClr val="B7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47488" y="168249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7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schema/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510528" y="1673352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36515A"/>
                </a:solidFill>
              </a:rPr>
              <a:t>Versioned JSON Schema for capacity snapshots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4800600" y="2350008"/>
            <a:ext cx="67208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47488" y="248716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3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scenarios/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510528" y="2478024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36515A"/>
                </a:solidFill>
              </a:rPr>
              <a:t>Deterministic fracture, stroke and trauma timelines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4800600" y="3154680"/>
            <a:ext cx="67208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47488" y="329184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3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opencareflow/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510528" y="3282696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36515A"/>
                </a:solidFill>
              </a:rPr>
              <a:t>Eligibility, TTC estimate, uncertainty, change explanation</a:t>
            </a:r>
            <a:endParaRPr lang="en-US" sz="930" dirty="0"/>
          </a:p>
        </p:txBody>
      </p:sp>
      <p:sp>
        <p:nvSpPr>
          <p:cNvPr id="26" name="Shape 24"/>
          <p:cNvSpPr/>
          <p:nvPr/>
        </p:nvSpPr>
        <p:spPr>
          <a:xfrm>
            <a:off x="4800600" y="3959352"/>
            <a:ext cx="67208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47488" y="409651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3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tests/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510528" y="4087368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36515A"/>
                </a:solidFill>
              </a:rPr>
              <a:t>Regression tests for rankings, closures and schema validation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4800600" y="4764024"/>
            <a:ext cx="67208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47488" y="490118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3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510528" y="4892040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36515A"/>
                </a:solidFill>
              </a:rPr>
              <a:t>Demo script + ready-to-open good-first issues</a:t>
            </a:r>
            <a:endParaRPr lang="en-US" sz="9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9AA8A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38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3844"/>
          </a:solidFill>
          <a:ln w="12700">
            <a:solidFill>
              <a:srgbClr val="1038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A3A3"/>
          </a:solidFill>
          <a:ln w="12700">
            <a:solidFill>
              <a:srgbClr val="0B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03504"/>
            <a:ext cx="457200" cy="457200"/>
          </a:xfrm>
          <a:prstGeom prst="ellipse">
            <a:avLst/>
          </a:prstGeom>
          <a:solidFill>
            <a:srgbClr val="0BA3A3"/>
          </a:solidFill>
          <a:ln w="12700">
            <a:solidFill>
              <a:srgbClr val="0B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" y="685800"/>
            <a:ext cx="7315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0664" y="795528"/>
            <a:ext cx="292608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32588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Help make the capacity schema useful beyond the demo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658368" y="1993392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C8CE"/>
                </a:solidFill>
              </a:rPr>
              <a:t>The best next contributions are concrete and independent.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49808" y="2816352"/>
            <a:ext cx="347472" cy="347472"/>
          </a:xfrm>
          <a:prstGeom prst="ellipse">
            <a:avLst/>
          </a:prstGeom>
          <a:solidFill>
            <a:srgbClr val="0BA3A3"/>
          </a:solidFill>
          <a:ln w="12700">
            <a:solidFill>
              <a:srgbClr val="0BA3A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898648"/>
            <a:ext cx="34747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325880" y="278892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Review the schema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64992" y="2788920"/>
            <a:ext cx="7086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D3D9"/>
                </a:solidFill>
              </a:rPr>
              <a:t>Would these signals map cleanly from your hospital, public-sector or research system?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49808" y="3666744"/>
            <a:ext cx="347472" cy="347472"/>
          </a:xfrm>
          <a:prstGeom prst="ellipse">
            <a:avLst/>
          </a:prstGeom>
          <a:solidFill>
            <a:srgbClr val="0BA3A3"/>
          </a:solidFill>
          <a:ln w="12700">
            <a:solidFill>
              <a:srgbClr val="0BA3A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3749040"/>
            <a:ext cx="34747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325880" y="3639312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Write an adapter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64992" y="3639312"/>
            <a:ext cx="7086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D3D9"/>
                </a:solidFill>
              </a:rPr>
              <a:t>Translate an example FHIR/ROR-style/local payload into the v0.1 snapshot.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49808" y="4517136"/>
            <a:ext cx="347472" cy="347472"/>
          </a:xfrm>
          <a:prstGeom prst="ellipse">
            <a:avLst/>
          </a:prstGeom>
          <a:solidFill>
            <a:srgbClr val="0BA3A3"/>
          </a:solidFill>
          <a:ln w="12700">
            <a:solidFill>
              <a:srgbClr val="0BA3A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4599432"/>
            <a:ext cx="34747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325880" y="4489704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Add a scenario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64992" y="4489704"/>
            <a:ext cx="7086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D3D9"/>
                </a:solidFill>
              </a:rPr>
              <a:t>Contribute a reproducible bottleneck or temporary-closure case — synthetic data only.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58368" y="5650992"/>
            <a:ext cx="10899648" cy="658368"/>
          </a:xfrm>
          <a:prstGeom prst="roundRect">
            <a:avLst/>
          </a:prstGeom>
          <a:solidFill>
            <a:srgbClr val="154751"/>
          </a:solidFill>
          <a:ln w="12700">
            <a:solidFill>
              <a:srgbClr val="2B5A6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5861304"/>
            <a:ext cx="10378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5EBEE"/>
                </a:solidFill>
              </a:rPr>
              <a:t>Open schema • explainable estimator • reproducible scenarios • Apache-2.0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9AA8A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OpenCareFlow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OpenCareFlow v0.1 — FOSDEM Demo Pitch</dc:title>
  <dc:subject>OpenCareFlow v0.1 FOSDEM demo pitch</dc:subject>
  <dc:creator>OpenCareFlow contributors</dc:creator>
  <cp:lastModifiedBy>OpenCareFlow contributors</cp:lastModifiedBy>
  <cp:revision>1</cp:revision>
  <dcterms:created xsi:type="dcterms:W3CDTF">2026-10-14T21:49:07Z</dcterms:created>
  <dcterms:modified xsi:type="dcterms:W3CDTF">2026-10-14T21:49:07Z</dcterms:modified>
</cp:coreProperties>
</file>